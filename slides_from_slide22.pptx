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Đánh Giá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474720" y="2606040"/>
            <a:ext cx="2194560" cy="4572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nghiên cứu kỹ thuật đến ứng dụng lâm sàng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thông số lâm sàng dùng để đánh giá nguy cơ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777240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804672"/>
            <a:ext cx="3895344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Đo thông số lâm sàng —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ảnh võng mạc — mỗi chỉ số đo theo Zone B để đảm bảo so sánh được giữa các 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4114800" cy="777240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804672"/>
            <a:ext cx="3895344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Kết hợp bằng Machine Learning —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học trọng số tổ hợp giữa các dấu hiệu, ra xác suất nguy cơ cuối cùng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664208"/>
          <a:ext cx="8778240" cy="3246120"/>
        </p:xfrm>
        <a:graphic>
          <a:graphicData uri="http://schemas.openxmlformats.org/drawingml/2006/table">
            <a:tbl>
              <a:tblPr/>
              <a:tblGrid>
                <a:gridCol w="274320"/>
                <a:gridCol w="1371600"/>
                <a:gridCol w="1737360"/>
                <a:gridCol w="2194560"/>
                <a:gridCol w="914400"/>
              </a:tblGrid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thuật đo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Ngưỡng / Ý nghĩa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 (A/V Ratio)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CRAE / CRVE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0.65 → hẹp động mạch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kính ĐM Zone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chiếu nội bộ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kính TM Zone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chiếu nội bộ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Tortuosity TB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/ chord mỗi 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1.50 → xoắn bệnh lý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Tortuosity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std(tortuosity)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0.20 → phân bố không ổn định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px / zone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 → mạng thưa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Fractal 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Box-counting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~1.3–1.7 tham chiếu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Gap-weighted skeleton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0.15 → đứt đoạn tăng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endpoint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0.05 → gap bất thường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Whitening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High-intensity ngoài OD+vessel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→ phù trắng võng mạc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0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0.3·focus+0.25·contrast+...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0.42 low / ≥ 0.68 usable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Hỗ trợ đọc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 disc detection conf.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40% tham chiếu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Hỗ trợ giải phẫu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theo 6 dấu hiệu hình thái RAO và lý do kết hợp bằng ML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86968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896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Hẹp động mạch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CRAE, AVR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158191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Tắc nghẽn → áp lực giảm → lòng mạch co. Đo cross-section ⊥ skeleton trong Zone 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347472" cy="347472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896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Đứt đoạn mạch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Discontinuity, EndpointGap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58191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 sau chỗ tắc không hiện rõ. Closing(skel)−skel, endpoint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886968"/>
            <a:ext cx="347472" cy="347472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896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độ xoắn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Tortuosity, Std Tortuosity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158191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HA làm mạch mất đàn hồi. arc/chord mỗi segment, ngưỡng &gt; 1.50.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78892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2898648"/>
            <a:ext cx="347472" cy="347472"/>
          </a:xfrm>
          <a:prstGeom prst="ellipse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29077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trắng võng mạc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" y="33101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WhiteningScore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59359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oxy → tế bào phù nề → vùng sáng bất thường. Rất đặc trưng CRAO cấp.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78892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2898648"/>
            <a:ext cx="347472" cy="3474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85032" y="29077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mật độ mạch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4408" y="33101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VesselDensity, FractalDim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64408" y="359359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nhỏ xẹp → mạng thưa. Vessel px/FOV + box-counting, ngưỡng &lt; 5%.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788920"/>
            <a:ext cx="2834640" cy="1874520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2898648"/>
            <a:ext cx="347472" cy="347472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5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56832" y="29077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cân đối A/V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36208" y="33101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AVR, CRAE, CRVE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36208" y="359359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ĐM teo, TM giãn bù trừ. Không chỉ nhìn ratio — xét cả absolute value.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phải kết hợp cả 6 dấu hiệu với Machine Learning?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160520" cy="4114800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dấu hiệu đơn lẻ còn thiếu sót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2984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Đứt đoạn đơn lẻ: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do ảnh mờ hoặc phân đoạn chưa tốt → false positive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0482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 thấp đơn lẻ: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có thể là biến thiên bình thường giữa các bệnh nhân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79806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xoắn đơn lẻ: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đủ kết luận vì phụ thuộc từng nhánh mạch riêng lẻ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5478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 đơn lẻ: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bị nhiễu bởi vùng sáng hoặc phản xạ ánh sáng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315968"/>
            <a:ext cx="3886200" cy="411480"/>
          </a:xfrm>
          <a:prstGeom prst="rect">
            <a:avLst/>
          </a:prstGeom>
          <a:solidFill>
            <a:srgbClr val="1C3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32511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Khi nhiều dấu hiệu cùng xuất hiện, độ tin cậy tăng rõ rệt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749808"/>
            <a:ext cx="4480560" cy="4114800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841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kết hợp với Machine Learning?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1335024"/>
            <a:ext cx="237744" cy="237744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29844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biến: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giữa các dấu hiệu là đa biến — không nên chốt bằng một ngưỡng đơn lẻ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029968"/>
            <a:ext cx="237744" cy="237744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99339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đặc trưng: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nhận vector đặc trưng chứ không nhận ảnh thô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724912"/>
            <a:ext cx="237744" cy="237744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6883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trọng số: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trọng số kết hợp giữa các dấu hiệu từ dữ liệu thật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419856"/>
            <a:ext cx="237744" cy="237744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3832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nguy cơ: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là xác suất — không phải nhãn binary cứng nhắc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4114800"/>
            <a:ext cx="237744" cy="237744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07822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0.35: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0.35 tối ưu cho mục tiêu sàng lọc (ưu tiên recall)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mô hình Random Forest trên bộ dữ liệu hiện tại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530352"/>
          </a:xfrm>
          <a:prstGeom prst="rect">
            <a:avLst/>
          </a:prstGeom>
          <a:solidFill>
            <a:srgbClr val="242B44"/>
          </a:solidFill>
          <a:ln w="12700">
            <a:solidFill>
              <a:srgbClr val="2E36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ảnh  |  </a:t>
            </a:r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  |  </a:t>
            </a:r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 |  </a:t>
            </a:r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2103120" cy="1298448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481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(CV)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3.8%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417320"/>
            <a:ext cx="2103120" cy="1298448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481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95728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(CV)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6.9%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417320"/>
            <a:ext cx="2103120" cy="1298448"/>
          </a:xfrm>
          <a:prstGeom prst="rect">
            <a:avLst/>
          </a:prstGeom>
          <a:solidFill>
            <a:srgbClr val="242B4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1481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08576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(CV)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08576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5.0%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21424" y="1417320"/>
            <a:ext cx="2103120" cy="1298448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1481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21424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1424" y="2359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9.1%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834640"/>
          <a:ext cx="8778240" cy="169164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Hold-out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threshold = 0.35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6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/ Sensitivity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Ngưỡng 0.35 được chọn để tối ưu sàng lọc — ưu tiên không bỏ sót ca nguy cơ.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đầu ra không chỉ là nhãn — mà là bộ bằng chứng trực quan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Mask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cây mạch máu phục vụ đo lường mật độ và skeleton graph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777240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87168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A/V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1801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động mạch/tĩnh mạch để đo CRAE, CRVE, AVR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777240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0016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Disc + Zone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1801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vùng phân tích đúng tiêu chuẩn Knudtson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21424" y="777240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12864" y="1399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1801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xoắn và đứt đoạn mạch trên skeleton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807208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/ Calibre 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8313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thay đổi caliber động mạch và tĩnh mạch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95728" y="2807208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95728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87168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Table (UI phải)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87168" y="38313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đầy đủ 12 chỉ số lâm sàng với ngưỡng tham chiếu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08576" y="2807208"/>
            <a:ext cx="2103120" cy="1901952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08576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0016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Risk Probability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38313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nguy cơ cuối cùng do Random Forest trả 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4617720"/>
            <a:ext cx="8778240" cy="347472"/>
          </a:xfrm>
          <a:prstGeom prst="rect">
            <a:avLst/>
          </a:prstGeom>
          <a:solidFill>
            <a:srgbClr val="1C3050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63600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Điểm mạnh cốt lõi: Hệ thống explainable — không chỉ ra nhãn black-box mà cung cấp toàn bộ bằng chứng lâm sàng đi kèm.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hiện tại của hệ thống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965960"/>
          </a:xfrm>
          <a:prstGeom prst="rect">
            <a:avLst/>
          </a:prstGeom>
          <a:solidFill>
            <a:srgbClr val="242B44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905256"/>
            <a:ext cx="320040" cy="3200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05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5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923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Nhãn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3258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còn mất cân bằng lớp (356 normal vs 99 high-risk)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4767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nguy cơ chưa phải ground truth lâm sàng quy mô lớn từ bác sĩ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97680" cy="1965960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905256"/>
            <a:ext cx="320040" cy="32004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05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5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923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vững của pipeline ảnh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3258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mờ, lóa, giao cắt mạch phức tạp vẫn có thể làm sai A/V, OD và discontinuity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94767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số ca chất lượng thấp có thể vừa là nhiễu kỹ thuật vừa là dấu hiệu bệnh lý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4297680" cy="1965960"/>
          </a:xfrm>
          <a:prstGeom prst="rect">
            <a:avLst/>
          </a:prstGeom>
          <a:solidFill>
            <a:srgbClr val="242B44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3008376"/>
            <a:ext cx="320040" cy="32004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5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mô thức chưa hoàn chỉnh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" y="34290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hiện tại chủ yếu dựa trên đặc trưng ảnh võng mạc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405079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tích hợp trực tiếp huyết áp, BMI, bệnh sử vào vector dự đoán cuối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297680" cy="1965960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3008376"/>
            <a:ext cx="320040" cy="320040"/>
          </a:xfrm>
          <a:prstGeom prst="ellipse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5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ngoài tập dữ liệu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34290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external validation đủ mạnh trên tập bệnh viện độc lập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hướng hoàn thiện hệ thống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749808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713232" cy="749808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bộ đặc trưng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61288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10 đặc trưng demo hiện tại → khung 12 chỉ số hoàn chỉnh, bổ sung thêm các marker hình thái chưa khai thác.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618488"/>
            <a:ext cx="8778240" cy="749808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618488"/>
            <a:ext cx="713232" cy="749808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618488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clinical metadata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02536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trực tiếp huyết áp, BMI, bệnh sử tiểu đường vào vector dự đoán cuối để tăng độ chính xác.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459736"/>
            <a:ext cx="8778240" cy="749808"/>
          </a:xfrm>
          <a:prstGeom prst="rect">
            <a:avLst/>
          </a:prstGeom>
          <a:solidFill>
            <a:srgbClr val="242B4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459736"/>
            <a:ext cx="713232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459736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532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dọc theo thời gian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84378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 theo hồ sơ bệnh nhân, theo dõi diễn tiến thay đổi chỉ số qua các lần khám.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300984"/>
            <a:ext cx="8778240" cy="749808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300984"/>
            <a:ext cx="713232" cy="7498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300984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3741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nhãn &amp; external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ground truth từ bác sĩ chuyên khoa, kiểm định độc lập trên tập bệnh viện ngoài.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142232"/>
            <a:ext cx="8778240" cy="749808"/>
          </a:xfrm>
          <a:prstGeom prst="rect">
            <a:avLst/>
          </a:prstGeom>
          <a:solidFill>
            <a:srgbClr val="242B44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4142232"/>
            <a:ext cx="713232" cy="74980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142232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2153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cho telemedicine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backend để hỗ trợ phân tích nhanh, triển khai môi trường tài nguyên thấp cho vùng xa.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Quy trình đánh giá từ ảnh đến kết luận cuối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" y="1490472"/>
            <a:ext cx="0" cy="109728"/>
          </a:xfrm>
          <a:prstGeom prst="line">
            <a:avLst/>
          </a:prstGeom>
          <a:noFill/>
          <a:ln w="25400">
            <a:solidFill>
              <a:srgbClr val="00C3FF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201168" y="850392"/>
            <a:ext cx="548640" cy="548640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50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777240"/>
            <a:ext cx="8065008" cy="713232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85039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ảnh fundus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 JPG/PNG — hệ thống chuẩn hóa, đánh giá chất lượng và từ chối ảnh kém.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313432"/>
            <a:ext cx="0" cy="109728"/>
          </a:xfrm>
          <a:prstGeom prst="line">
            <a:avLst/>
          </a:prstGeom>
          <a:noFill/>
          <a:ln w="25400">
            <a:solidFill>
              <a:srgbClr val="26C6DA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201168" y="1673352"/>
            <a:ext cx="548640" cy="548640"/>
          </a:xfrm>
          <a:prstGeom prst="ellipse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1600200"/>
            <a:ext cx="8065008" cy="713232"/>
          </a:xfrm>
          <a:prstGeom prst="rect">
            <a:avLst/>
          </a:prstGeom>
          <a:solidFill>
            <a:srgbClr val="242B44"/>
          </a:solidFill>
          <a:ln w="12700">
            <a:solidFill>
              <a:srgbClr val="26C6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167335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segmentation &amp; A/V map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vessel mask, phân loại động mạch/tĩnh mạch, kiểm tra Zone B được khoanh đúng.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136392"/>
            <a:ext cx="0" cy="109728"/>
          </a:xfrm>
          <a:prstGeom prst="line">
            <a:avLst/>
          </a:prstGeom>
          <a:noFill/>
          <a:ln w="25400">
            <a:solidFill>
              <a:srgbClr val="4CAF50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201168" y="2496312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6112" y="2423160"/>
            <a:ext cx="8065008" cy="713232"/>
          </a:xfrm>
          <a:prstGeom prst="rect">
            <a:avLst/>
          </a:prstGeom>
          <a:solidFill>
            <a:srgbClr val="242B4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49631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disc, structural map &amp; bảng chỉ số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structural map (tortuosity, discontinuity) và bảng 12 chỉ số lâm sàng ở UI góc phải.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3959352"/>
            <a:ext cx="0" cy="109728"/>
          </a:xfrm>
          <a:prstGeom prst="line">
            <a:avLst/>
          </a:prstGeom>
          <a:noFill/>
          <a:ln w="25400">
            <a:solidFill>
              <a:srgbClr val="FF9800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201168" y="3319272"/>
            <a:ext cx="548640" cy="54864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6112" y="3246120"/>
            <a:ext cx="8065008" cy="713232"/>
          </a:xfrm>
          <a:prstGeom prst="rect">
            <a:avLst/>
          </a:prstGeom>
          <a:solidFill>
            <a:srgbClr val="242B44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331927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xác suất nguy cơ cuối cùng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trả xác suất. Ngưỡng 0.35 — nếu vượt → HIGH RISK, hệ thống giải thích từng dấu hiệu.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4142232"/>
            <a:ext cx="548640" cy="548640"/>
          </a:xfrm>
          <a:prstGeom prst="ellipse">
            <a:avLst/>
          </a:prstGeom>
          <a:solidFill>
            <a:srgbClr val="00C3FF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5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6112" y="4069080"/>
            <a:ext cx="8065008" cy="713232"/>
          </a:xfrm>
          <a:prstGeom prst="rect">
            <a:avLst/>
          </a:prstGeom>
          <a:solidFill>
            <a:srgbClr val="242B44"/>
          </a:solidFill>
          <a:ln w="12700">
            <a:solidFill>
              <a:srgbClr val="00C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4142232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đánh giá toàn diện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lâm sàng + ML → kết luận cuối. Không kết luận từ một dấu hiệu đơn lẻ.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2026-04-18T18:23:02Z</dcterms:created>
  <dcterms:modified xsi:type="dcterms:W3CDTF">2026-04-18T18:23:02Z</dcterms:modified>
</cp:coreProperties>
</file>